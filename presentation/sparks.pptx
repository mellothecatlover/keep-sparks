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158898"/>
            <a:ext cx="10948111" cy="2139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4" b="0">
                <a:solidFill>
                  <a:srgbClr val="8B8B94"/>
                </a:solidFill>
                <a:latin typeface="Segoe UI"/>
              </a:rPr>
              <a:t>ЛАГЕРЬ KEEP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2524658"/>
            <a:ext cx="10948111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40" b="1">
                <a:solidFill>
                  <a:srgbClr val="ECECEE"/>
                </a:solidFill>
                <a:latin typeface="Segoe UI"/>
              </a:rPr>
              <a:t>Искры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353458"/>
            <a:ext cx="10948111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68" b="0">
                <a:solidFill>
                  <a:srgbClr val="8B8B94"/>
                </a:solidFill>
                <a:latin typeface="Segoe UI"/>
              </a:rPr>
              <a:t>keep-sparks.ru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280160"/>
            <a:ext cx="10948111" cy="540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50" b="1">
                <a:solidFill>
                  <a:srgbClr val="ECECEE"/>
                </a:solidFill>
                <a:latin typeface="Segoe UI"/>
              </a:rPr>
              <a:t>Что это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2468880"/>
            <a:ext cx="10948111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68" b="0">
                <a:solidFill>
                  <a:srgbClr val="ECECEE"/>
                </a:solidFill>
                <a:latin typeface="Segoe UI"/>
              </a:rPr>
              <a:t>Искры — очки, которые ты набираешь за смену.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3657600"/>
            <a:ext cx="3466490" cy="1920240"/>
          </a:xfrm>
          <a:prstGeom prst="roundRect">
            <a:avLst>
              <a:gd name="adj" fmla="val 8000"/>
            </a:avLst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3931920"/>
            <a:ext cx="2917850" cy="5925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28" b="0">
                <a:solidFill>
                  <a:srgbClr val="ECECEE"/>
                </a:solidFill>
                <a:latin typeface="Segoe UI"/>
              </a:rPr>
              <a:t>Копятся через все смены</a:t>
            </a:r>
          </a:p>
          <a:p>
            <a:pPr algn="l">
              <a:lnSpc>
                <a:spcPct val="135000"/>
              </a:lnSpc>
            </a:pPr>
            <a:r>
              <a:rPr sz="1728" b="0">
                <a:solidFill>
                  <a:srgbClr val="ECECEE"/>
                </a:solidFill>
                <a:latin typeface="Segoe UI"/>
              </a:rPr>
              <a:t>за все годы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2602" y="3657600"/>
            <a:ext cx="3466490" cy="1920240"/>
          </a:xfrm>
          <a:prstGeom prst="roundRect">
            <a:avLst>
              <a:gd name="adj" fmla="val 8000"/>
            </a:avLst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922" y="3931920"/>
            <a:ext cx="2917850" cy="888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28" b="0">
                <a:solidFill>
                  <a:srgbClr val="ECECEE"/>
                </a:solidFill>
                <a:latin typeface="Segoe UI"/>
              </a:rPr>
              <a:t>Ничего не сгорает: приехал</a:t>
            </a:r>
          </a:p>
          <a:p>
            <a:pPr algn="l">
              <a:lnSpc>
                <a:spcPct val="135000"/>
              </a:lnSpc>
            </a:pPr>
            <a:r>
              <a:rPr sz="1728" b="0">
                <a:solidFill>
                  <a:srgbClr val="ECECEE"/>
                </a:solidFill>
                <a:latin typeface="Segoe UI"/>
              </a:rPr>
              <a:t>через год — продолжил</a:t>
            </a:r>
          </a:p>
          <a:p>
            <a:pPr algn="l">
              <a:lnSpc>
                <a:spcPct val="135000"/>
              </a:lnSpc>
            </a:pPr>
            <a:r>
              <a:rPr sz="1728" b="0">
                <a:solidFill>
                  <a:srgbClr val="ECECEE"/>
                </a:solidFill>
                <a:latin typeface="Segoe UI"/>
              </a:rPr>
              <a:t>с того же места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3412" y="3657600"/>
            <a:ext cx="3466490" cy="1920240"/>
          </a:xfrm>
          <a:prstGeom prst="roundRect">
            <a:avLst>
              <a:gd name="adj" fmla="val 8000"/>
            </a:avLst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77732" y="3931920"/>
            <a:ext cx="2917850" cy="5925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28" b="0">
                <a:solidFill>
                  <a:srgbClr val="ECECEE"/>
                </a:solidFill>
                <a:latin typeface="Segoe UI"/>
              </a:rPr>
              <a:t>По ним строится</a:t>
            </a:r>
          </a:p>
          <a:p>
            <a:pPr algn="l">
              <a:lnSpc>
                <a:spcPct val="135000"/>
              </a:lnSpc>
            </a:pPr>
            <a:r>
              <a:rPr sz="1728" b="0">
                <a:solidFill>
                  <a:srgbClr val="ECECEE"/>
                </a:solidFill>
                <a:latin typeface="Segoe UI"/>
              </a:rPr>
              <a:t>общий рейтинг лагеря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970178"/>
            <a:ext cx="10948111" cy="540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50" b="1">
                <a:solidFill>
                  <a:srgbClr val="ECECEE"/>
                </a:solidFill>
                <a:latin typeface="Segoe UI"/>
              </a:rPr>
              <a:t>Просто за то, что ты здесь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976018"/>
            <a:ext cx="10948111" cy="1604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4040" b="1">
                <a:solidFill>
                  <a:srgbClr val="8B7CF6"/>
                </a:solidFill>
                <a:latin typeface="Segoe UI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993538"/>
            <a:ext cx="10948111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68" b="0">
                <a:solidFill>
                  <a:srgbClr val="ECECEE"/>
                </a:solidFill>
                <a:latin typeface="Segoe UI"/>
              </a:rPr>
              <a:t>искр за каждый день смены, кроме дня отъезда.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542178"/>
            <a:ext cx="10948111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68" b="0">
                <a:solidFill>
                  <a:srgbClr val="8B8B94"/>
                </a:solidFill>
                <a:latin typeface="Segoe UI"/>
              </a:rPr>
              <a:t>Всем и без условий. Делать для этого ничего не нужно.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992581"/>
            <a:ext cx="10948111" cy="540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50" b="1">
                <a:solidFill>
                  <a:srgbClr val="ECECEE"/>
                </a:solidFill>
                <a:latin typeface="Segoe UI"/>
              </a:rPr>
              <a:t>Всей командой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2126437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КТБ: этап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089861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250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611069"/>
            <a:ext cx="10948111" cy="9525"/>
          </a:xfrm>
          <a:prstGeom prst="rect">
            <a:avLst/>
          </a:prstGeom>
          <a:solidFill>
            <a:srgbClr val="2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693365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КТБ: победа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656789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400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3177997"/>
            <a:ext cx="10948111" cy="9525"/>
          </a:xfrm>
          <a:prstGeom prst="rect">
            <a:avLst/>
          </a:prstGeom>
          <a:solidFill>
            <a:srgbClr val="2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0293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КГГ/КТП: кубок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223717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150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744925"/>
            <a:ext cx="10948111" cy="9525"/>
          </a:xfrm>
          <a:prstGeom prst="rect">
            <a:avLst/>
          </a:prstGeom>
          <a:solidFill>
            <a:srgbClr val="2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827221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КГГ/КТП: победа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90645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500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4311853"/>
            <a:ext cx="10948111" cy="9525"/>
          </a:xfrm>
          <a:prstGeom prst="rect">
            <a:avLst/>
          </a:prstGeom>
          <a:solidFill>
            <a:srgbClr val="2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394149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Wake Up Арена: победа комнаты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357573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198821"/>
            <a:ext cx="10948111" cy="6665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44" b="0">
                <a:solidFill>
                  <a:srgbClr val="ECECEE"/>
                </a:solidFill>
                <a:latin typeface="Segoe UI"/>
              </a:rPr>
              <a:t>Эти искры получает каждый в команде — не капитан</a:t>
            </a:r>
          </a:p>
          <a:p>
            <a:pPr algn="l">
              <a:lnSpc>
                <a:spcPct val="135000"/>
              </a:lnSpc>
            </a:pPr>
            <a:r>
              <a:rPr sz="1944" b="0">
                <a:solidFill>
                  <a:srgbClr val="ECECEE"/>
                </a:solidFill>
                <a:latin typeface="Segoe UI"/>
              </a:rPr>
              <a:t>и не только тот, кто выходил на этап.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475499"/>
            <a:ext cx="10948111" cy="540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50" b="1">
                <a:solidFill>
                  <a:srgbClr val="ECECEE"/>
                </a:solidFill>
                <a:latin typeface="Segoe UI"/>
              </a:rPr>
              <a:t>Личное внутри команды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2929395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КТБ: лучший в команде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892819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600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3414027"/>
            <a:ext cx="10948111" cy="9525"/>
          </a:xfrm>
          <a:prstGeom prst="rect">
            <a:avLst/>
          </a:prstGeom>
          <a:solidFill>
            <a:srgbClr val="2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3496323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КГГ/КТП: лучший из лучших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459747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1500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438155"/>
            <a:ext cx="10948111" cy="944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36" b="0">
                <a:solidFill>
                  <a:srgbClr val="8B8B94"/>
                </a:solidFill>
                <a:latin typeface="Segoe UI"/>
              </a:rPr>
              <a:t>Wake Up Арена играется комнатами по 5–6 человек,</a:t>
            </a:r>
          </a:p>
          <a:p>
            <a:pPr algn="l">
              <a:lnSpc>
                <a:spcPct val="135000"/>
              </a:lnSpc>
            </a:pPr>
            <a:r>
              <a:rPr sz="1836" b="0">
                <a:solidFill>
                  <a:srgbClr val="8B8B94"/>
                </a:solidFill>
                <a:latin typeface="Segoe UI"/>
              </a:rPr>
              <a:t>4 раунда за смену. Выиграла комната — искры каждому</a:t>
            </a:r>
          </a:p>
          <a:p>
            <a:pPr algn="l">
              <a:lnSpc>
                <a:spcPct val="135000"/>
              </a:lnSpc>
            </a:pPr>
            <a:r>
              <a:rPr sz="1836" b="0">
                <a:solidFill>
                  <a:srgbClr val="8B8B94"/>
                </a:solidFill>
                <a:latin typeface="Segoe UI"/>
              </a:rPr>
              <a:t>её жителю.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777240"/>
            <a:ext cx="10948111" cy="540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50" b="1">
                <a:solidFill>
                  <a:srgbClr val="ECECEE"/>
                </a:solidFill>
                <a:latin typeface="Segoe UI"/>
              </a:rPr>
              <a:t>Реалити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682496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Победа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45920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3000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167128"/>
            <a:ext cx="10948111" cy="9525"/>
          </a:xfrm>
          <a:prstGeom prst="rect">
            <a:avLst/>
          </a:prstGeom>
          <a:solidFill>
            <a:srgbClr val="2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249424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Супер-финал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212848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500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734056"/>
            <a:ext cx="10948111" cy="9525"/>
          </a:xfrm>
          <a:prstGeom prst="rect">
            <a:avLst/>
          </a:prstGeom>
          <a:solidFill>
            <a:srgbClr val="2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816352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Финал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779776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200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300984"/>
            <a:ext cx="10948111" cy="9525"/>
          </a:xfrm>
          <a:prstGeom prst="rect">
            <a:avLst/>
          </a:prstGeom>
          <a:solidFill>
            <a:srgbClr val="2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383280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Продвинул сюжет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346704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250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867912"/>
            <a:ext cx="10948111" cy="9525"/>
          </a:xfrm>
          <a:prstGeom prst="rect">
            <a:avLst/>
          </a:prstGeom>
          <a:solidFill>
            <a:srgbClr val="2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950208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Лучший / лидер дня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913632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709160"/>
            <a:ext cx="10948111" cy="1371600"/>
          </a:xfrm>
          <a:prstGeom prst="roundRect">
            <a:avLst>
              <a:gd name="adj" fmla="val 6000"/>
            </a:avLst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937760"/>
            <a:ext cx="10948111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916" b="0">
                <a:solidFill>
                  <a:srgbClr val="ECECEE"/>
                </a:solidFill>
                <a:latin typeface="Segoe UI"/>
              </a:rPr>
              <a:t>3000 + 500 + 200 = </a:t>
            </a:r>
            <a:r>
              <a:rPr sz="2916" b="1">
                <a:solidFill>
                  <a:srgbClr val="8B7CF6"/>
                </a:solidFill>
                <a:latin typeface="Segoe UI"/>
              </a:rPr>
              <a:t>3700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5532120"/>
            <a:ext cx="10308031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20" b="0">
                <a:solidFill>
                  <a:srgbClr val="8B8B94"/>
                </a:solidFill>
                <a:latin typeface="Segoe UI"/>
              </a:rPr>
              <a:t>Победитель прошёл и финал, и супер-финал, поэтому получает всё сразу.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376172"/>
            <a:ext cx="10948111" cy="540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50" b="1">
                <a:solidFill>
                  <a:srgbClr val="ECECEE"/>
                </a:solidFill>
                <a:latin typeface="Segoe UI"/>
              </a:rPr>
              <a:t>Личные награды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2647188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Человек смены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610612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1300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3131820"/>
            <a:ext cx="10948111" cy="9525"/>
          </a:xfrm>
          <a:prstGeom prst="rect">
            <a:avLst/>
          </a:prstGeom>
          <a:solidFill>
            <a:srgbClr val="2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3214116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Признание руководителя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177540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1200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3698748"/>
            <a:ext cx="10948111" cy="9525"/>
          </a:xfrm>
          <a:prstGeom prst="rect">
            <a:avLst/>
          </a:prstGeom>
          <a:solidFill>
            <a:srgbClr val="2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781044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Человек дня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744468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300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4265676"/>
            <a:ext cx="10948111" cy="9525"/>
          </a:xfrm>
          <a:prstGeom prst="rect">
            <a:avLst/>
          </a:prstGeom>
          <a:solidFill>
            <a:srgbClr val="2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347972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Звёзды: победа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311396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2000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4832604"/>
            <a:ext cx="10948111" cy="9525"/>
          </a:xfrm>
          <a:prstGeom prst="rect">
            <a:avLst/>
          </a:prstGeom>
          <a:solidFill>
            <a:srgbClr val="2A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914900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944">
                <a:solidFill>
                  <a:srgbClr val="ECECEE"/>
                </a:solidFill>
                <a:latin typeface="Segoe UI"/>
              </a:rPr>
              <a:t>Звёзды: финал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878324"/>
            <a:ext cx="1094811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2484" b="1">
                <a:solidFill>
                  <a:srgbClr val="8B7CF6"/>
                </a:solidFill>
                <a:latin typeface="Segoe UI"/>
              </a:rPr>
              <a:t>600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188720"/>
            <a:ext cx="10948111" cy="540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50" b="1">
                <a:solidFill>
                  <a:srgbClr val="ECECEE"/>
                </a:solidFill>
                <a:latin typeface="Segoe UI"/>
              </a:rPr>
              <a:t>Коэффициент смены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2377440"/>
            <a:ext cx="10948111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60" b="0">
                <a:solidFill>
                  <a:srgbClr val="ECECEE"/>
                </a:solidFill>
                <a:latin typeface="Segoe UI"/>
              </a:rPr>
              <a:t>Чем больше народу приехало, тем труднее выделиться —</a:t>
            </a:r>
          </a:p>
          <a:p>
            <a:pPr algn="l">
              <a:lnSpc>
                <a:spcPct val="135000"/>
              </a:lnSpc>
            </a:pPr>
            <a:r>
              <a:rPr sz="2160" b="0">
                <a:solidFill>
                  <a:srgbClr val="ECECEE"/>
                </a:solidFill>
                <a:latin typeface="Segoe UI"/>
              </a:rPr>
              <a:t>и тем дороже смена. На этой смене 52 человека.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3931920"/>
            <a:ext cx="10948111" cy="1737360"/>
          </a:xfrm>
          <a:prstGeom prst="roundRect">
            <a:avLst>
              <a:gd name="adj" fmla="val 6000"/>
            </a:avLst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4206240"/>
            <a:ext cx="10948111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916" b="0">
                <a:solidFill>
                  <a:srgbClr val="ECECEE"/>
                </a:solidFill>
                <a:latin typeface="Segoe UI"/>
              </a:rPr>
              <a:t>1000 искр за смену → </a:t>
            </a:r>
            <a:r>
              <a:rPr sz="2916" b="1">
                <a:solidFill>
                  <a:srgbClr val="8B7CF6"/>
                </a:solidFill>
                <a:latin typeface="Segoe UI"/>
              </a:rPr>
              <a:t>1720</a:t>
            </a:r>
            <a:r>
              <a:rPr sz="2916" b="0">
                <a:solidFill>
                  <a:srgbClr val="ECECEE"/>
                </a:solidFill>
                <a:latin typeface="Segoe UI"/>
              </a:rPr>
              <a:t> в профиле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4846320"/>
            <a:ext cx="10308031" cy="5554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20" b="0">
                <a:solidFill>
                  <a:srgbClr val="8B8B94"/>
                </a:solidFill>
                <a:latin typeface="Segoe UI"/>
              </a:rPr>
              <a:t>Умножается вся сумма за смену целиком, округление одно. Поэтому число</a:t>
            </a:r>
          </a:p>
          <a:p>
            <a:pPr algn="l">
              <a:lnSpc>
                <a:spcPct val="135000"/>
              </a:lnSpc>
            </a:pPr>
            <a:r>
              <a:rPr sz="1620" b="0">
                <a:solidFill>
                  <a:srgbClr val="8B8B94"/>
                </a:solidFill>
                <a:latin typeface="Segoe UI"/>
              </a:rPr>
              <a:t>в профиле может на единицу отличаться от сложенных вручную цен.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475499"/>
            <a:ext cx="10948111" cy="540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50" b="1">
                <a:solidFill>
                  <a:srgbClr val="ECECEE"/>
                </a:solidFill>
                <a:latin typeface="Segoe UI"/>
              </a:rPr>
              <a:t>Искры приходят по дням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2664219"/>
            <a:ext cx="10948111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60" b="0">
                <a:solidFill>
                  <a:srgbClr val="ECECEE"/>
                </a:solidFill>
                <a:latin typeface="Segoe UI"/>
              </a:rPr>
              <a:t>Итоги дня подводят взрослые. Когда день отдан,</a:t>
            </a:r>
          </a:p>
          <a:p>
            <a:pPr algn="l">
              <a:lnSpc>
                <a:spcPct val="135000"/>
              </a:lnSpc>
            </a:pPr>
            <a:r>
              <a:rPr sz="2160" b="0">
                <a:solidFill>
                  <a:srgbClr val="ECECEE"/>
                </a:solidFill>
                <a:latin typeface="Segoe UI"/>
              </a:rPr>
              <a:t>на сайте появляется карточка.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4337571"/>
            <a:ext cx="82296" cy="82296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4218699"/>
            <a:ext cx="10692079" cy="3147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36" b="0">
                <a:solidFill>
                  <a:srgbClr val="ECECEE"/>
                </a:solidFill>
                <a:latin typeface="Segoe UI"/>
              </a:rPr>
              <a:t>Сначала — только «тебе пришли искры за вчера»</a:t>
            </a:r>
          </a:p>
        </p:txBody>
      </p:sp>
      <p:sp>
        <p:nvSpPr>
          <p:cNvPr id="6" name="Oval 5"/>
          <p:cNvSpPr/>
          <p:nvPr/>
        </p:nvSpPr>
        <p:spPr>
          <a:xfrm>
            <a:off x="621792" y="4762081"/>
            <a:ext cx="82296" cy="82296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4643209"/>
            <a:ext cx="10692079" cy="3147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36" b="0">
                <a:solidFill>
                  <a:srgbClr val="ECECEE"/>
                </a:solidFill>
                <a:latin typeface="Segoe UI"/>
              </a:rPr>
              <a:t>Состав открывается по нажатию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5186591"/>
            <a:ext cx="82296" cy="82296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067719"/>
            <a:ext cx="10692079" cy="3147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36" b="0">
                <a:solidFill>
                  <a:srgbClr val="ECECEE"/>
                </a:solidFill>
                <a:latin typeface="Segoe UI"/>
              </a:rPr>
              <a:t>В общий счёт день идёт сразу, открыл ты карточку или нет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782509"/>
            <a:ext cx="10948111" cy="540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50" b="1">
                <a:solidFill>
                  <a:srgbClr val="ECECEE"/>
                </a:solidFill>
                <a:latin typeface="Segoe UI"/>
              </a:rPr>
              <a:t>Где смотреть</a:t>
            </a:r>
          </a:p>
        </p:txBody>
      </p:sp>
      <p:sp>
        <p:nvSpPr>
          <p:cNvPr id="3" name="Oval 2"/>
          <p:cNvSpPr/>
          <p:nvPr/>
        </p:nvSpPr>
        <p:spPr>
          <a:xfrm>
            <a:off x="621792" y="3181541"/>
            <a:ext cx="82296" cy="82296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062669"/>
            <a:ext cx="10692079" cy="3147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36" b="0">
                <a:solidFill>
                  <a:srgbClr val="ECECEE"/>
                </a:solidFill>
                <a:latin typeface="Segoe UI"/>
              </a:rPr>
              <a:t>Профиль — все искры и график по сменам</a:t>
            </a:r>
          </a:p>
        </p:txBody>
      </p:sp>
      <p:sp>
        <p:nvSpPr>
          <p:cNvPr id="5" name="Oval 4"/>
          <p:cNvSpPr/>
          <p:nvPr/>
        </p:nvSpPr>
        <p:spPr>
          <a:xfrm>
            <a:off x="621792" y="3606051"/>
            <a:ext cx="82296" cy="82296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3487179"/>
            <a:ext cx="10692079" cy="3147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36" b="0">
                <a:solidFill>
                  <a:srgbClr val="ECECEE"/>
                </a:solidFill>
                <a:latin typeface="Segoe UI"/>
              </a:rPr>
              <a:t>Моя смена — искры по дням и своя команда КТБ</a:t>
            </a:r>
          </a:p>
        </p:txBody>
      </p:sp>
      <p:sp>
        <p:nvSpPr>
          <p:cNvPr id="7" name="Oval 6"/>
          <p:cNvSpPr/>
          <p:nvPr/>
        </p:nvSpPr>
        <p:spPr>
          <a:xfrm>
            <a:off x="621792" y="4030561"/>
            <a:ext cx="82296" cy="82296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911689"/>
            <a:ext cx="10692079" cy="3147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36" b="0">
                <a:solidFill>
                  <a:srgbClr val="ECECEE"/>
                </a:solidFill>
                <a:latin typeface="Segoe UI"/>
              </a:rPr>
              <a:t>Рейтинг искр — где ты среди всех</a:t>
            </a:r>
          </a:p>
        </p:txBody>
      </p:sp>
      <p:sp>
        <p:nvSpPr>
          <p:cNvPr id="9" name="Oval 8"/>
          <p:cNvSpPr/>
          <p:nvPr/>
        </p:nvSpPr>
        <p:spPr>
          <a:xfrm>
            <a:off x="621792" y="4455071"/>
            <a:ext cx="82296" cy="82296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336199"/>
            <a:ext cx="10692079" cy="3147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36" b="0">
                <a:solidFill>
                  <a:srgbClr val="ECECEE"/>
                </a:solidFill>
                <a:latin typeface="Segoe UI"/>
              </a:rPr>
              <a:t>За что искры — эти же цены, всегда под рукой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4879581"/>
            <a:ext cx="82296" cy="82296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760709"/>
            <a:ext cx="10692079" cy="3147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36" b="0">
                <a:solidFill>
                  <a:srgbClr val="ECECEE"/>
                </a:solidFill>
                <a:latin typeface="Segoe UI"/>
              </a:rPr>
              <a:t>Победители, человек дня, человек смены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774497"/>
            <a:ext cx="10948111" cy="540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50" b="1">
                <a:solidFill>
                  <a:srgbClr val="ECECEE"/>
                </a:solidFill>
                <a:latin typeface="Segoe UI"/>
              </a:rPr>
              <a:t>Заходи</a:t>
            </a:r>
          </a:p>
        </p:txBody>
      </p:sp>
      <p:pic>
        <p:nvPicPr>
          <p:cNvPr id="3" name="Picture 2" descr="qr-keep-sp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507" y="1688897"/>
            <a:ext cx="3154680" cy="3154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5117897"/>
            <a:ext cx="10948111" cy="3621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76" b="1">
                <a:solidFill>
                  <a:srgbClr val="8B7CF6"/>
                </a:solidFill>
                <a:latin typeface="Segoe UI"/>
              </a:rPr>
              <a:t>keep-sparks.ru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803697"/>
            <a:ext cx="10948111" cy="279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36" b="0">
                <a:solidFill>
                  <a:srgbClr val="8B8B94"/>
                </a:solidFill>
                <a:latin typeface="Segoe UI"/>
              </a:rPr>
              <a:t>Логин и пароль — у вожатого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633472"/>
            <a:ext cx="10948111" cy="540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50" b="1">
                <a:solidFill>
                  <a:srgbClr val="ECECEE"/>
                </a:solidFill>
                <a:latin typeface="Segoe UI"/>
              </a:rPr>
              <a:t>Считай свои искры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3730752"/>
            <a:ext cx="10948111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240" b="1">
                <a:solidFill>
                  <a:srgbClr val="8B7CF6"/>
                </a:solidFill>
                <a:latin typeface="Segoe UI"/>
              </a:rPr>
              <a:t>keep-sparks.ru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